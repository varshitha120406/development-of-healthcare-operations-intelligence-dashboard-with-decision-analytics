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D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731520"/>
            <a:ext cx="2011680" cy="2011680"/>
          </a:xfrm>
          <a:prstGeom prst="ellipse">
            <a:avLst/>
          </a:prstGeom>
          <a:solidFill>
            <a:srgbClr val="2769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84080" y="2011680"/>
            <a:ext cx="1554480" cy="1554480"/>
          </a:xfrm>
          <a:prstGeom prst="ellipse">
            <a:avLst/>
          </a:prstGeom>
          <a:solidFill>
            <a:srgbClr val="249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138160" y="2926080"/>
            <a:ext cx="1280160" cy="1280160"/>
          </a:xfrm>
          <a:prstGeom prst="ellipse">
            <a:avLst/>
          </a:prstGeom>
          <a:solidFill>
            <a:srgbClr val="438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50292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74DCD2"/>
                </a:solidFill>
                <a:latin typeface="Aptos"/>
              </a:rPr>
              <a:t>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7498079" cy="21031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ptos"/>
              </a:rPr>
              <a:t>Medical Operations
Intelligence Dashboard
&amp; Automation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86200"/>
            <a:ext cx="6675120" cy="914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900" b="0">
                <a:solidFill>
                  <a:srgbClr val="DEE9F3"/>
                </a:solidFill>
                <a:latin typeface="Aptos"/>
              </a:rPr>
              <a:t>A centralized view of hospital operations, service activity, resources and operational insights.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989320"/>
            <a:ext cx="3657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ADC2D5"/>
                </a:solidFill>
                <a:latin typeface="Aptos"/>
              </a:rPr>
              <a:t>Project Presentation</a:t>
            </a:r>
          </a:p>
        </p:txBody>
      </p:sp>
      <p:sp>
        <p:nvSpPr>
          <p:cNvPr id="9" name="Batch Info"/>
          <p:cNvSpPr txBox="1"/>
          <p:nvPr/>
        </p:nvSpPr>
        <p:spPr>
          <a:xfrm>
            <a:off x="731520" y="457200"/>
            <a:ext cx="1072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8F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7.0  ·  BATCH 3</a:t>
            </a:r>
            <a:endParaRPr lang="en-US" sz="1400" dirty="0"/>
          </a:p>
        </p:txBody>
      </p:sp>
      <p:sp>
        <p:nvSpPr>
          <p:cNvPr id="10" name="Presented By"/>
          <p:cNvSpPr txBox="1"/>
          <p:nvPr/>
        </p:nvSpPr>
        <p:spPr>
          <a:xfrm>
            <a:off x="731520" y="5120640"/>
            <a:ext cx="1072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Team B</a:t>
            </a:r>
            <a:endParaRPr lang="en-US" sz="1400" dirty="0"/>
          </a:p>
        </p:txBody>
      </p:sp>
      <p:sp>
        <p:nvSpPr>
          <p:cNvPr id="11" name="Mentor"/>
          <p:cNvSpPr txBox="1"/>
          <p:nvPr/>
        </p:nvSpPr>
        <p:spPr>
          <a:xfrm>
            <a:off x="731520" y="5440680"/>
            <a:ext cx="1072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Mentor: Vivek Gautam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9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47548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49D97"/>
                </a:solidFill>
                <a:latin typeface="Aptos"/>
              </a:rP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22D4E"/>
                </a:solidFill>
                <a:latin typeface="Aptos"/>
              </a:rPr>
              <a:t>What Is the Project?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46520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00" b="1">
                <a:solidFill>
                  <a:srgbClr val="677787"/>
                </a:solidFill>
                <a:latin typeface="Apto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332720" cy="11430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300" b="1">
                <a:solidFill>
                  <a:srgbClr val="2D3946"/>
                </a:solidFill>
                <a:latin typeface="Aptos"/>
              </a:rPr>
              <a:t>The Medical Operations Intelligence Dashboard &amp; Automation System is a healthcare operations platform that brings key operational information into one place.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246120"/>
            <a:ext cx="32461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3246120"/>
            <a:ext cx="82296" cy="1920240"/>
          </a:xfrm>
          <a:prstGeom prst="rect">
            <a:avLst/>
          </a:prstGeom>
          <a:solidFill>
            <a:srgbClr val="2769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3429000"/>
            <a:ext cx="2834639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22D4E"/>
                </a:solidFill>
                <a:latin typeface="Aptos"/>
              </a:rPr>
              <a:t>Centralized 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904487"/>
            <a:ext cx="2834639" cy="11155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D3946"/>
                </a:solidFill>
                <a:latin typeface="Aptos"/>
              </a:rPr>
              <a:t>Combines information from different operational areas.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3246120"/>
            <a:ext cx="32461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3246120"/>
            <a:ext cx="82296" cy="1920240"/>
          </a:xfrm>
          <a:prstGeom prst="rect">
            <a:avLst/>
          </a:prstGeom>
          <a:solidFill>
            <a:srgbClr val="249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3429000"/>
            <a:ext cx="2834639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22D4E"/>
                </a:solidFill>
                <a:latin typeface="Aptos"/>
              </a:rPr>
              <a:t>Visual Monitoring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904487"/>
            <a:ext cx="2834639" cy="11155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D3946"/>
                </a:solidFill>
                <a:latin typeface="Aptos"/>
              </a:rPr>
              <a:t>Uses dashboard cards, charts and trends to make data easier to understand.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3246120"/>
            <a:ext cx="32461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3246120"/>
            <a:ext cx="82296" cy="1920240"/>
          </a:xfrm>
          <a:prstGeom prst="rect">
            <a:avLst/>
          </a:prstGeom>
          <a:solidFill>
            <a:srgbClr val="2769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3429000"/>
            <a:ext cx="2834639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22D4E"/>
                </a:solidFill>
                <a:latin typeface="Aptos"/>
              </a:rPr>
              <a:t>Operational Insight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3904487"/>
            <a:ext cx="2834639" cy="11155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D3946"/>
                </a:solidFill>
                <a:latin typeface="Aptos"/>
              </a:rPr>
              <a:t>Helps teams notice changes, delays and resource pressures.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9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47548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49D97"/>
                </a:solidFill>
                <a:latin typeface="Aptos"/>
              </a:rP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22D4E"/>
                </a:solidFill>
                <a:latin typeface="Aptos"/>
              </a:rPr>
              <a:t>Background &amp;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46520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00" b="1">
                <a:solidFill>
                  <a:srgbClr val="677787"/>
                </a:solidFill>
                <a:latin typeface="Aptos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424160" cy="10515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>
              <a:spcAft>
                <a:spcPts val="400"/>
              </a:spcAft>
            </a:pPr>
            <a:r>
              <a:rPr sz="1700">
                <a:solidFill>
                  <a:srgbClr val="536576"/>
                </a:solidFill>
                <a:latin typeface="Aptos"/>
              </a:rPr>
              <a:t>Hospitals coordinate patient visits, appointments, admissions, staffing, beds and billing every day. When this information sits in separate files or systems, it is harder to see the full picture.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43200"/>
            <a:ext cx="3657600" cy="32004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24A69E"/>
                </a:solidFill>
                <a:latin typeface="Aptos"/>
              </a:rPr>
              <a:t>CONNECTED HOSPITAL ACTIVITIES</a:t>
            </a:r>
          </a:p>
        </p:txBody>
      </p:sp>
      <p:sp>
        <p:nvSpPr>
          <p:cNvPr id="8" name="Oval 7"/>
          <p:cNvSpPr/>
          <p:nvPr/>
        </p:nvSpPr>
        <p:spPr>
          <a:xfrm>
            <a:off x="4800600" y="3657600"/>
            <a:ext cx="2468880" cy="1143000"/>
          </a:xfrm>
          <a:prstGeom prst="ellipse">
            <a:avLst/>
          </a:prstGeom>
          <a:solidFill>
            <a:srgbClr val="193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ptos"/>
              </a:rPr>
              <a:t>Hospital</a:t>
            </a:r>
          </a:p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ptos"/>
              </a:rPr>
              <a:t>Operations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3337560"/>
            <a:ext cx="27432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193758"/>
                </a:solidFill>
                <a:latin typeface="Aptos"/>
              </a:rPr>
              <a:t>Patient activity</a:t>
            </a:r>
          </a:p>
          <a:p>
            <a:pPr algn="ctr">
              <a:spcAft>
                <a:spcPts val="200"/>
              </a:spcAft>
            </a:pPr>
            <a:r>
              <a:rPr sz="1000" b="0">
                <a:solidFill>
                  <a:srgbClr val="536576"/>
                </a:solidFill>
                <a:latin typeface="Aptos"/>
              </a:rPr>
              <a:t>Visits • appointments • admissions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3410712"/>
            <a:ext cx="64008" cy="768096"/>
          </a:xfrm>
          <a:prstGeom prst="rect">
            <a:avLst/>
          </a:prstGeom>
          <a:solidFill>
            <a:srgbClr val="3077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549640" y="3337560"/>
            <a:ext cx="27432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193758"/>
                </a:solidFill>
                <a:latin typeface="Aptos"/>
              </a:rPr>
              <a:t>People &amp; capacity</a:t>
            </a:r>
          </a:p>
          <a:p>
            <a:pPr algn="ctr">
              <a:spcAft>
                <a:spcPts val="200"/>
              </a:spcAft>
            </a:pPr>
            <a:r>
              <a:rPr sz="1000" b="0">
                <a:solidFill>
                  <a:srgbClr val="536576"/>
                </a:solidFill>
                <a:latin typeface="Aptos"/>
              </a:rPr>
              <a:t>Staffing • beds • attendance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49640" y="3410712"/>
            <a:ext cx="64008" cy="768096"/>
          </a:xfrm>
          <a:prstGeom prst="rect">
            <a:avLst/>
          </a:prstGeom>
          <a:solidFill>
            <a:srgbClr val="24A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68680" y="5074920"/>
            <a:ext cx="27432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193758"/>
                </a:solidFill>
                <a:latin typeface="Aptos"/>
              </a:rPr>
              <a:t>Financial activity</a:t>
            </a:r>
          </a:p>
          <a:p>
            <a:pPr algn="ctr">
              <a:spcAft>
                <a:spcPts val="200"/>
              </a:spcAft>
            </a:pPr>
            <a:r>
              <a:rPr sz="1000" b="0">
                <a:solidFill>
                  <a:srgbClr val="536576"/>
                </a:solidFill>
                <a:latin typeface="Aptos"/>
              </a:rPr>
              <a:t>Billing • payments • claims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5148072"/>
            <a:ext cx="64008" cy="768096"/>
          </a:xfrm>
          <a:prstGeom prst="rect">
            <a:avLst/>
          </a:prstGeom>
          <a:solidFill>
            <a:srgbClr val="24A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549640" y="5074920"/>
            <a:ext cx="27432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193758"/>
                </a:solidFill>
                <a:latin typeface="Aptos"/>
              </a:rPr>
              <a:t>Operational review</a:t>
            </a:r>
          </a:p>
          <a:p>
            <a:pPr algn="ctr">
              <a:spcAft>
                <a:spcPts val="200"/>
              </a:spcAft>
            </a:pPr>
            <a:r>
              <a:rPr sz="1000" b="0">
                <a:solidFill>
                  <a:srgbClr val="536576"/>
                </a:solidFill>
                <a:latin typeface="Aptos"/>
              </a:rPr>
              <a:t>Trends • delays • follow-up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49640" y="5148072"/>
            <a:ext cx="64008" cy="768096"/>
          </a:xfrm>
          <a:prstGeom prst="rect">
            <a:avLst/>
          </a:prstGeom>
          <a:solidFill>
            <a:srgbClr val="3077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3611880" y="3794760"/>
            <a:ext cx="1188720" cy="274320"/>
          </a:xfrm>
          <a:prstGeom prst="line">
            <a:avLst/>
          </a:prstGeom>
          <a:ln w="19050">
            <a:solidFill>
              <a:srgbClr val="91B2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7269480" y="3794760"/>
            <a:ext cx="1280160" cy="274320"/>
          </a:xfrm>
          <a:prstGeom prst="line">
            <a:avLst/>
          </a:prstGeom>
          <a:ln w="19050">
            <a:solidFill>
              <a:srgbClr val="91B2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3611880" y="4800600"/>
            <a:ext cx="1554480" cy="685800"/>
          </a:xfrm>
          <a:prstGeom prst="line">
            <a:avLst/>
          </a:prstGeom>
          <a:ln w="19050">
            <a:solidFill>
              <a:srgbClr val="91B2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903720" y="4800600"/>
            <a:ext cx="1645920" cy="685800"/>
          </a:xfrm>
          <a:prstGeom prst="line">
            <a:avLst/>
          </a:prstGeom>
          <a:ln w="19050">
            <a:solidFill>
              <a:srgbClr val="91B2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9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47548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49D97"/>
                </a:solidFill>
                <a:latin typeface="Aptos"/>
              </a:rPr>
              <a:t>THE NEED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22D4E"/>
                </a:solidFill>
                <a:latin typeface="Aptos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46520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00" b="1">
                <a:solidFill>
                  <a:srgbClr val="677787"/>
                </a:solidFill>
                <a:latin typeface="Aptos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45920"/>
            <a:ext cx="10607040" cy="3566160"/>
          </a:xfrm>
          <a:prstGeom prst="roundRect">
            <a:avLst/>
          </a:prstGeom>
          <a:solidFill>
            <a:srgbClr val="EFF6FB"/>
          </a:solidFill>
          <a:ln>
            <a:solidFill>
              <a:srgbClr val="DAE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45920"/>
            <a:ext cx="10424160" cy="10515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700">
                <a:solidFill>
                  <a:srgbClr val="536576"/>
                </a:solidFill>
                <a:latin typeface="Aptos"/>
              </a:rPr>
              <a:t>Healthcare data can be scattered across departments, files and processes, making it harder to monitor performance, spot delays and understand resource use.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715000"/>
            <a:ext cx="1024128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249D97"/>
                </a:solidFill>
                <a:latin typeface="Aptos"/>
              </a:rPr>
              <a:t>Core problem: limited consolidated visibility into day-to-day hospital operations.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3246120"/>
            <a:ext cx="32461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193758"/>
                </a:solidFill>
                <a:latin typeface="Aptos"/>
              </a:rPr>
              <a:t>Slower review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536576"/>
                </a:solidFill>
                <a:latin typeface="Aptos"/>
              </a:rPr>
              <a:t>More time spent comparing information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3319272"/>
            <a:ext cx="64008" cy="1179576"/>
          </a:xfrm>
          <a:prstGeom prst="rect">
            <a:avLst/>
          </a:prstGeom>
          <a:solidFill>
            <a:srgbClr val="3077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80560" y="3246120"/>
            <a:ext cx="32461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193758"/>
                </a:solidFill>
                <a:latin typeface="Aptos"/>
              </a:rPr>
              <a:t>Limited visibility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536576"/>
                </a:solidFill>
                <a:latin typeface="Aptos"/>
              </a:rPr>
              <a:t>Harder to see resource pressure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3319272"/>
            <a:ext cx="64008" cy="1179576"/>
          </a:xfrm>
          <a:prstGeom prst="rect">
            <a:avLst/>
          </a:prstGeom>
          <a:solidFill>
            <a:srgbClr val="24A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92440" y="3246120"/>
            <a:ext cx="32461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193758"/>
                </a:solidFill>
                <a:latin typeface="Aptos"/>
              </a:rPr>
              <a:t>Delayed follow-up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536576"/>
                </a:solidFill>
                <a:latin typeface="Aptos"/>
              </a:rPr>
              <a:t>Issues may be harder to track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92440" y="3319272"/>
            <a:ext cx="64008" cy="1179576"/>
          </a:xfrm>
          <a:prstGeom prst="rect">
            <a:avLst/>
          </a:prstGeom>
          <a:solidFill>
            <a:srgbClr val="3077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 flipH="1">
            <a:off x="2487168" y="2788920"/>
            <a:ext cx="3611880" cy="457200"/>
          </a:xfrm>
          <a:prstGeom prst="line">
            <a:avLst/>
          </a:prstGeom>
          <a:ln w="19050">
            <a:solidFill>
              <a:srgbClr val="91B2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099048" y="2788920"/>
            <a:ext cx="0" cy="457200"/>
          </a:xfrm>
          <a:prstGeom prst="line">
            <a:avLst/>
          </a:prstGeom>
          <a:ln w="19050">
            <a:solidFill>
              <a:srgbClr val="91B2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099048" y="2788920"/>
            <a:ext cx="3611880" cy="457200"/>
          </a:xfrm>
          <a:prstGeom prst="line">
            <a:avLst/>
          </a:prstGeom>
          <a:ln w="19050">
            <a:solidFill>
              <a:srgbClr val="91B2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251960" y="2331720"/>
            <a:ext cx="3703320" cy="502920"/>
          </a:xfrm>
          <a:prstGeom prst="roundRect">
            <a:avLst/>
          </a:prstGeom>
          <a:solidFill>
            <a:srgbClr val="E8F2F8"/>
          </a:solidFill>
          <a:ln>
            <a:solidFill>
              <a:srgbClr val="CD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93758"/>
                </a:solidFill>
                <a:latin typeface="Aptos"/>
              </a:rPr>
              <a:t>Fragmented operational information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9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47548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49D97"/>
                </a:solidFill>
                <a:latin typeface="Aptos"/>
              </a:rPr>
              <a:t>PROBLEM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22D4E"/>
                </a:solidFill>
                <a:latin typeface="Aptos"/>
              </a:rPr>
              <a:t>Challenges Addressed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46520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00" b="1">
                <a:solidFill>
                  <a:srgbClr val="677787"/>
                </a:solidFill>
                <a:latin typeface="Apto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49834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645920"/>
            <a:ext cx="82296" cy="1508760"/>
          </a:xfrm>
          <a:prstGeom prst="rect">
            <a:avLst/>
          </a:prstGeom>
          <a:solidFill>
            <a:srgbClr val="2769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828800"/>
            <a:ext cx="45720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22D4E"/>
                </a:solidFill>
                <a:latin typeface="Aptos"/>
              </a:rPr>
              <a:t>Fragmented Information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304288"/>
            <a:ext cx="4572000" cy="70408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D3946"/>
                </a:solidFill>
                <a:latin typeface="Aptos"/>
              </a:rPr>
              <a:t>Operational data may be stored in separate files or functional areas.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645920"/>
            <a:ext cx="49834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645920"/>
            <a:ext cx="82296" cy="1508760"/>
          </a:xfrm>
          <a:prstGeom prst="rect">
            <a:avLst/>
          </a:prstGeom>
          <a:solidFill>
            <a:srgbClr val="249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828800"/>
            <a:ext cx="45720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22D4E"/>
                </a:solidFill>
                <a:latin typeface="Aptos"/>
              </a:rPr>
              <a:t>Slow Performance 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304288"/>
            <a:ext cx="4572000" cy="70408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D3946"/>
                </a:solidFill>
                <a:latin typeface="Aptos"/>
              </a:rPr>
              <a:t>Teams may need extra time to compare activity and spot changes.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657600"/>
            <a:ext cx="49834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657600"/>
            <a:ext cx="82296" cy="1508760"/>
          </a:xfrm>
          <a:prstGeom prst="rect">
            <a:avLst/>
          </a:prstGeom>
          <a:solidFill>
            <a:srgbClr val="249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840480"/>
            <a:ext cx="45720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22D4E"/>
                </a:solidFill>
                <a:latin typeface="Aptos"/>
              </a:rPr>
              <a:t>Resource Visibility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315968"/>
            <a:ext cx="4572000" cy="70408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D3946"/>
                </a:solidFill>
                <a:latin typeface="Aptos"/>
              </a:rPr>
              <a:t>It can be difficult to see bed availability and workload at a glance.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657600"/>
            <a:ext cx="49834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3657600"/>
            <a:ext cx="82296" cy="1508760"/>
          </a:xfrm>
          <a:prstGeom prst="rect">
            <a:avLst/>
          </a:prstGeom>
          <a:solidFill>
            <a:srgbClr val="2769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3840480"/>
            <a:ext cx="45720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22D4E"/>
                </a:solidFill>
                <a:latin typeface="Aptos"/>
              </a:rPr>
              <a:t>Follow-up on Operations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4315968"/>
            <a:ext cx="4572000" cy="70408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D3946"/>
                </a:solidFill>
                <a:latin typeface="Aptos"/>
              </a:rPr>
              <a:t>Delays, exceptions and pending tasks may need clearer tracking.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9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47548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49D97"/>
                </a:solidFill>
                <a:latin typeface="Aptos"/>
              </a:rP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22D4E"/>
                </a:solidFill>
                <a:latin typeface="Aptos"/>
              </a:rPr>
              <a:t>Project Overview: Proposed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46520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00" b="1">
                <a:solidFill>
                  <a:srgbClr val="677787"/>
                </a:solidFill>
                <a:latin typeface="Aptos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515600" cy="777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800">
                <a:solidFill>
                  <a:srgbClr val="536576"/>
                </a:solidFill>
                <a:latin typeface="Aptos"/>
              </a:rPr>
              <a:t>The project brings healthcare operational information into one dashboard experience.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10424160" cy="35661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/>
        </p:txBody>
      </p:sp>
      <p:sp>
        <p:nvSpPr>
          <p:cNvPr id="8" name="Oval 7"/>
          <p:cNvSpPr/>
          <p:nvPr/>
        </p:nvSpPr>
        <p:spPr>
          <a:xfrm>
            <a:off x="1417320" y="2743200"/>
            <a:ext cx="640080" cy="640080"/>
          </a:xfrm>
          <a:prstGeom prst="ellipse">
            <a:avLst/>
          </a:prstGeom>
          <a:solidFill>
            <a:srgbClr val="3077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611880"/>
            <a:ext cx="2057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193758"/>
                </a:solidFill>
                <a:latin typeface="Aptos"/>
              </a:rPr>
              <a:t>Bring together</a:t>
            </a:r>
          </a:p>
          <a:p>
            <a:pPr algn="ctr">
              <a:spcAft>
                <a:spcPts val="200"/>
              </a:spcAft>
            </a:pPr>
            <a:r>
              <a:rPr sz="1000" b="0">
                <a:solidFill>
                  <a:srgbClr val="536576"/>
                </a:solidFill>
                <a:latin typeface="Aptos"/>
              </a:rPr>
              <a:t>Patient, staff, billing and insurance data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685032"/>
            <a:ext cx="64008" cy="1271016"/>
          </a:xfrm>
          <a:prstGeom prst="rect">
            <a:avLst/>
          </a:prstGeom>
          <a:solidFill>
            <a:srgbClr val="3077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297680" y="2743200"/>
            <a:ext cx="640080" cy="640080"/>
          </a:xfrm>
          <a:prstGeom prst="ellipse">
            <a:avLst/>
          </a:prstGeom>
          <a:solidFill>
            <a:srgbClr val="24A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03320" y="3611880"/>
            <a:ext cx="2057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193758"/>
                </a:solidFill>
                <a:latin typeface="Aptos"/>
              </a:rPr>
              <a:t>Summarize</a:t>
            </a:r>
          </a:p>
          <a:p>
            <a:pPr algn="ctr">
              <a:spcAft>
                <a:spcPts val="200"/>
              </a:spcAft>
            </a:pPr>
            <a:r>
              <a:rPr sz="1000" b="0">
                <a:solidFill>
                  <a:srgbClr val="536576"/>
                </a:solidFill>
                <a:latin typeface="Aptos"/>
              </a:rPr>
              <a:t>KPI cards and visual charts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03320" y="3685032"/>
            <a:ext cx="64008" cy="1271016"/>
          </a:xfrm>
          <a:prstGeom prst="rect">
            <a:avLst/>
          </a:prstGeom>
          <a:solidFill>
            <a:srgbClr val="24A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178040" y="2743200"/>
            <a:ext cx="640080" cy="640080"/>
          </a:xfrm>
          <a:prstGeom prst="ellipse">
            <a:avLst/>
          </a:prstGeom>
          <a:solidFill>
            <a:srgbClr val="3077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3611880"/>
            <a:ext cx="2057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193758"/>
                </a:solidFill>
                <a:latin typeface="Aptos"/>
              </a:rPr>
              <a:t>Compare</a:t>
            </a:r>
          </a:p>
          <a:p>
            <a:pPr algn="ctr">
              <a:spcAft>
                <a:spcPts val="200"/>
              </a:spcAft>
            </a:pPr>
            <a:r>
              <a:rPr sz="1000" b="0">
                <a:solidFill>
                  <a:srgbClr val="536576"/>
                </a:solidFill>
                <a:latin typeface="Aptos"/>
              </a:rPr>
              <a:t>Trends and operational activity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0" y="3685032"/>
            <a:ext cx="64008" cy="1271016"/>
          </a:xfrm>
          <a:prstGeom prst="rect">
            <a:avLst/>
          </a:prstGeom>
          <a:solidFill>
            <a:srgbClr val="3077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738360" y="2743200"/>
            <a:ext cx="640080" cy="640080"/>
          </a:xfrm>
          <a:prstGeom prst="ellipse">
            <a:avLst/>
          </a:prstGeom>
          <a:solidFill>
            <a:srgbClr val="24A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3611880"/>
            <a:ext cx="2057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193758"/>
                </a:solidFill>
                <a:latin typeface="Aptos"/>
              </a:rPr>
              <a:t>Review</a:t>
            </a:r>
          </a:p>
          <a:p>
            <a:pPr algn="ctr">
              <a:spcAft>
                <a:spcPts val="200"/>
              </a:spcAft>
            </a:pPr>
            <a:r>
              <a:rPr sz="1000" b="0">
                <a:solidFill>
                  <a:srgbClr val="536576"/>
                </a:solidFill>
                <a:latin typeface="Aptos"/>
              </a:rPr>
              <a:t>Workflow status and configured insights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0" y="3685032"/>
            <a:ext cx="64008" cy="1271016"/>
          </a:xfrm>
          <a:prstGeom prst="rect">
            <a:avLst/>
          </a:prstGeom>
          <a:solidFill>
            <a:srgbClr val="24A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2423160" y="3063240"/>
            <a:ext cx="1874520" cy="0"/>
          </a:xfrm>
          <a:prstGeom prst="line">
            <a:avLst/>
          </a:prstGeom>
          <a:ln w="22860">
            <a:solidFill>
              <a:srgbClr val="91B2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303520" y="3063240"/>
            <a:ext cx="1874520" cy="0"/>
          </a:xfrm>
          <a:prstGeom prst="line">
            <a:avLst/>
          </a:prstGeom>
          <a:ln w="22860">
            <a:solidFill>
              <a:srgbClr val="91B2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183879" y="3063240"/>
            <a:ext cx="1554481" cy="0"/>
          </a:xfrm>
          <a:prstGeom prst="line">
            <a:avLst/>
          </a:prstGeom>
          <a:ln w="22860">
            <a:solidFill>
              <a:srgbClr val="91B2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914400" y="5532120"/>
            <a:ext cx="10058400" cy="41148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536576"/>
                </a:solidFill>
                <a:latin typeface="Aptos"/>
              </a:rPr>
              <a:t>The dashboard supports review and decision-making; it does not replace professional judgment.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9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47548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49D97"/>
                </a:solidFill>
                <a:latin typeface="Aptos"/>
              </a:rP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22D4E"/>
                </a:solidFill>
                <a:latin typeface="Aptos"/>
              </a:rPr>
              <a:t>What the Dashboard Covers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46520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00" b="1">
                <a:solidFill>
                  <a:srgbClr val="677787"/>
                </a:solidFill>
                <a:latin typeface="Aptos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49834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645920"/>
            <a:ext cx="82296" cy="1508760"/>
          </a:xfrm>
          <a:prstGeom prst="rect">
            <a:avLst/>
          </a:prstGeom>
          <a:solidFill>
            <a:srgbClr val="2769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828800"/>
            <a:ext cx="45720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22D4E"/>
                </a:solidFill>
                <a:latin typeface="Aptos"/>
              </a:rPr>
              <a:t>Patient Operations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304288"/>
            <a:ext cx="4572000" cy="70408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D3946"/>
                </a:solidFill>
                <a:latin typeface="Aptos"/>
              </a:rPr>
              <a:t>Patients, appointments and admissions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645920"/>
            <a:ext cx="49834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645920"/>
            <a:ext cx="82296" cy="1508760"/>
          </a:xfrm>
          <a:prstGeom prst="rect">
            <a:avLst/>
          </a:prstGeom>
          <a:solidFill>
            <a:srgbClr val="249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828800"/>
            <a:ext cx="45720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22D4E"/>
                </a:solidFill>
                <a:latin typeface="Aptos"/>
              </a:rPr>
              <a:t>Staff &amp; Resources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304288"/>
            <a:ext cx="4572000" cy="70408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D3946"/>
                </a:solidFill>
                <a:latin typeface="Aptos"/>
              </a:rPr>
              <a:t>Doctors, staff attendance and bed occupancy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657600"/>
            <a:ext cx="49834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657600"/>
            <a:ext cx="82296" cy="1508760"/>
          </a:xfrm>
          <a:prstGeom prst="rect">
            <a:avLst/>
          </a:prstGeom>
          <a:solidFill>
            <a:srgbClr val="2769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840480"/>
            <a:ext cx="45720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22D4E"/>
                </a:solidFill>
                <a:latin typeface="Aptos"/>
              </a:rPr>
              <a:t>Billing &amp; Insurance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315968"/>
            <a:ext cx="4572000" cy="70408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D3946"/>
                </a:solidFill>
                <a:latin typeface="Aptos"/>
              </a:rPr>
              <a:t>Revenue, payments and claims-related information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657600"/>
            <a:ext cx="49834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3657600"/>
            <a:ext cx="82296" cy="1508760"/>
          </a:xfrm>
          <a:prstGeom prst="rect">
            <a:avLst/>
          </a:prstGeom>
          <a:solidFill>
            <a:srgbClr val="249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3840480"/>
            <a:ext cx="45720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22D4E"/>
                </a:solidFill>
                <a:latin typeface="Aptos"/>
              </a:rPr>
              <a:t>Operational Insights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4315968"/>
            <a:ext cx="4572000" cy="70408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D3946"/>
                </a:solidFill>
                <a:latin typeface="Aptos"/>
              </a:rPr>
              <a:t>Trends, workflow status and predictive views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9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47548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49D97"/>
                </a:solidFill>
                <a:latin typeface="Aptos"/>
              </a:rP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22D4E"/>
                </a:solidFill>
                <a:latin typeface="Aptos"/>
              </a:rPr>
              <a:t>High-Level Project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46520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00" b="1">
                <a:solidFill>
                  <a:srgbClr val="677787"/>
                </a:solidFill>
                <a:latin typeface="Aptos"/>
              </a:rPr>
              <a:t>08</a:t>
            </a:r>
          </a:p>
        </p:txBody>
      </p:sp>
      <p:sp>
        <p:nvSpPr>
          <p:cNvPr id="6" name="Oval 5"/>
          <p:cNvSpPr/>
          <p:nvPr/>
        </p:nvSpPr>
        <p:spPr>
          <a:xfrm>
            <a:off x="1444752" y="1828800"/>
            <a:ext cx="731520" cy="731520"/>
          </a:xfrm>
          <a:prstGeom prst="ellipse">
            <a:avLst/>
          </a:prstGeom>
          <a:solidFill>
            <a:srgbClr val="2769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44752" y="1993392"/>
            <a:ext cx="7315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88920"/>
            <a:ext cx="214884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122D4E"/>
                </a:solidFill>
                <a:latin typeface="Aptos"/>
              </a:rPr>
              <a:t>Operational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310128"/>
            <a:ext cx="2148840" cy="9601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2D3946"/>
                </a:solidFill>
                <a:latin typeface="Aptos"/>
              </a:rPr>
              <a:t>Data from healthcare functions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2011680"/>
            <a:ext cx="5029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500" b="1">
                <a:solidFill>
                  <a:srgbClr val="677787"/>
                </a:solidFill>
                <a:latin typeface="Aptos"/>
              </a:rPr>
              <a:t>→</a:t>
            </a:r>
          </a:p>
        </p:txBody>
      </p:sp>
      <p:sp>
        <p:nvSpPr>
          <p:cNvPr id="11" name="Oval 10"/>
          <p:cNvSpPr/>
          <p:nvPr/>
        </p:nvSpPr>
        <p:spPr>
          <a:xfrm>
            <a:off x="4325112" y="1828800"/>
            <a:ext cx="731520" cy="731520"/>
          </a:xfrm>
          <a:prstGeom prst="ellipse">
            <a:avLst/>
          </a:prstGeom>
          <a:solidFill>
            <a:srgbClr val="249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25112" y="1993392"/>
            <a:ext cx="7315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2788920"/>
            <a:ext cx="214884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122D4E"/>
                </a:solidFill>
                <a:latin typeface="Aptos"/>
              </a:rPr>
              <a:t>Organize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3310128"/>
            <a:ext cx="2148840" cy="9601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2D3946"/>
                </a:solidFill>
                <a:latin typeface="Aptos"/>
              </a:rPr>
              <a:t>Prepare and group the information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2011680"/>
            <a:ext cx="5029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500" b="1">
                <a:solidFill>
                  <a:srgbClr val="677787"/>
                </a:solidFill>
                <a:latin typeface="Aptos"/>
              </a:rPr>
              <a:t>→</a:t>
            </a:r>
          </a:p>
        </p:txBody>
      </p:sp>
      <p:sp>
        <p:nvSpPr>
          <p:cNvPr id="16" name="Oval 15"/>
          <p:cNvSpPr/>
          <p:nvPr/>
        </p:nvSpPr>
        <p:spPr>
          <a:xfrm>
            <a:off x="7205472" y="1828800"/>
            <a:ext cx="731520" cy="731520"/>
          </a:xfrm>
          <a:prstGeom prst="ellipse">
            <a:avLst/>
          </a:prstGeom>
          <a:solidFill>
            <a:srgbClr val="2769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05472" y="1993392"/>
            <a:ext cx="7315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788920"/>
            <a:ext cx="214884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122D4E"/>
                </a:solidFill>
                <a:latin typeface="Aptos"/>
              </a:rPr>
              <a:t>Visualize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310128"/>
            <a:ext cx="2148840" cy="9601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2D3946"/>
                </a:solidFill>
                <a:latin typeface="Aptos"/>
              </a:rPr>
              <a:t>Show KPIs, charts and trends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2520" y="2011680"/>
            <a:ext cx="5029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500" b="1">
                <a:solidFill>
                  <a:srgbClr val="677787"/>
                </a:solidFill>
                <a:latin typeface="Aptos"/>
              </a:rPr>
              <a:t>→</a:t>
            </a:r>
          </a:p>
        </p:txBody>
      </p:sp>
      <p:sp>
        <p:nvSpPr>
          <p:cNvPr id="21" name="Oval 20"/>
          <p:cNvSpPr/>
          <p:nvPr/>
        </p:nvSpPr>
        <p:spPr>
          <a:xfrm>
            <a:off x="10085832" y="1828800"/>
            <a:ext cx="731520" cy="731520"/>
          </a:xfrm>
          <a:prstGeom prst="ellipse">
            <a:avLst/>
          </a:prstGeom>
          <a:solidFill>
            <a:srgbClr val="249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85832" y="1993392"/>
            <a:ext cx="7315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2788920"/>
            <a:ext cx="214884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122D4E"/>
                </a:solidFill>
                <a:latin typeface="Aptos"/>
              </a:rPr>
              <a:t>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600" y="3310128"/>
            <a:ext cx="2148840" cy="9601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2D3946"/>
                </a:solidFill>
                <a:latin typeface="Aptos"/>
              </a:rPr>
              <a:t>Use the overview to understand operational status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9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47548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49D97"/>
                </a:solidFill>
                <a:latin typeface="Aptos"/>
              </a:rP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22D4E"/>
                </a:solidFill>
                <a:latin typeface="Aptos"/>
              </a:rPr>
              <a:t>Overall 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46520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00" b="1">
                <a:solidFill>
                  <a:srgbClr val="677787"/>
                </a:solidFill>
                <a:latin typeface="Aptos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424160" cy="6858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r>
              <a:rPr sz="1800">
                <a:solidFill>
                  <a:srgbClr val="536576"/>
                </a:solidFill>
                <a:latin typeface="Aptos"/>
              </a:rPr>
              <a:t>One place to review hospital activity, resource use and operational trends.</a:t>
            </a:r>
          </a:p>
        </p:txBody>
      </p:sp>
      <p:sp>
        <p:nvSpPr>
          <p:cNvPr id="7" name="Oval 6"/>
          <p:cNvSpPr/>
          <p:nvPr/>
        </p:nvSpPr>
        <p:spPr>
          <a:xfrm>
            <a:off x="4800600" y="3337560"/>
            <a:ext cx="2468880" cy="1234440"/>
          </a:xfrm>
          <a:prstGeom prst="ellipse">
            <a:avLst/>
          </a:prstGeom>
          <a:solidFill>
            <a:srgbClr val="193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Medical Operations</a:t>
            </a:r>
          </a:p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Dashboard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514600"/>
            <a:ext cx="27432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193758"/>
                </a:solidFill>
                <a:latin typeface="Aptos"/>
              </a:rPr>
              <a:t>Visibility</a:t>
            </a:r>
          </a:p>
          <a:p>
            <a:pPr algn="ctr">
              <a:spcAft>
                <a:spcPts val="200"/>
              </a:spcAft>
            </a:pPr>
            <a:r>
              <a:rPr sz="1000" b="0">
                <a:solidFill>
                  <a:srgbClr val="536576"/>
                </a:solidFill>
                <a:latin typeface="Aptos"/>
              </a:rPr>
              <a:t>A consolidated operational view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2587752"/>
            <a:ext cx="64008" cy="813816"/>
          </a:xfrm>
          <a:prstGeom prst="rect">
            <a:avLst/>
          </a:prstGeom>
          <a:solidFill>
            <a:srgbClr val="3077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549640" y="2514600"/>
            <a:ext cx="27432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193758"/>
                </a:solidFill>
                <a:latin typeface="Aptos"/>
              </a:rPr>
              <a:t>Visual summaries</a:t>
            </a:r>
          </a:p>
          <a:p>
            <a:pPr algn="ctr">
              <a:spcAft>
                <a:spcPts val="200"/>
              </a:spcAft>
            </a:pPr>
            <a:r>
              <a:rPr sz="1000" b="0">
                <a:solidFill>
                  <a:srgbClr val="536576"/>
                </a:solidFill>
                <a:latin typeface="Aptos"/>
              </a:rPr>
              <a:t>KPIs, charts and trends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2587752"/>
            <a:ext cx="64008" cy="813816"/>
          </a:xfrm>
          <a:prstGeom prst="rect">
            <a:avLst/>
          </a:prstGeom>
          <a:solidFill>
            <a:srgbClr val="24A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68680" y="4800600"/>
            <a:ext cx="27432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193758"/>
                </a:solidFill>
                <a:latin typeface="Aptos"/>
              </a:rPr>
              <a:t>Workflow tracking</a:t>
            </a:r>
          </a:p>
          <a:p>
            <a:pPr algn="ctr">
              <a:spcAft>
                <a:spcPts val="200"/>
              </a:spcAft>
            </a:pPr>
            <a:r>
              <a:rPr sz="1000" b="0">
                <a:solidFill>
                  <a:srgbClr val="536576"/>
                </a:solidFill>
                <a:latin typeface="Aptos"/>
              </a:rPr>
              <a:t>Review status and follow-up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4873752"/>
            <a:ext cx="64008" cy="813816"/>
          </a:xfrm>
          <a:prstGeom prst="rect">
            <a:avLst/>
          </a:prstGeom>
          <a:solidFill>
            <a:srgbClr val="24A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549640" y="4800600"/>
            <a:ext cx="27432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193758"/>
                </a:solidFill>
                <a:latin typeface="Aptos"/>
              </a:rPr>
              <a:t>Operational insight</a:t>
            </a:r>
          </a:p>
          <a:p>
            <a:pPr algn="ctr">
              <a:spcAft>
                <a:spcPts val="200"/>
              </a:spcAft>
            </a:pPr>
            <a:r>
              <a:rPr sz="1000" b="0">
                <a:solidFill>
                  <a:srgbClr val="536576"/>
                </a:solidFill>
                <a:latin typeface="Aptos"/>
              </a:rPr>
              <a:t>Predictive views where configured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49640" y="4873752"/>
            <a:ext cx="64008" cy="813816"/>
          </a:xfrm>
          <a:prstGeom prst="rect">
            <a:avLst/>
          </a:prstGeom>
          <a:solidFill>
            <a:srgbClr val="3077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3611880" y="3017520"/>
            <a:ext cx="1188720" cy="640080"/>
          </a:xfrm>
          <a:prstGeom prst="line">
            <a:avLst/>
          </a:prstGeom>
          <a:ln w="19050">
            <a:solidFill>
              <a:srgbClr val="91B2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7269480" y="3017520"/>
            <a:ext cx="1280160" cy="640080"/>
          </a:xfrm>
          <a:prstGeom prst="line">
            <a:avLst/>
          </a:prstGeom>
          <a:ln w="19050">
            <a:solidFill>
              <a:srgbClr val="91B2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3611880" y="4389120"/>
            <a:ext cx="1463040" cy="868680"/>
          </a:xfrm>
          <a:prstGeom prst="line">
            <a:avLst/>
          </a:prstGeom>
          <a:ln w="19050">
            <a:solidFill>
              <a:srgbClr val="91B2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995160" y="4389120"/>
            <a:ext cx="1554480" cy="868680"/>
          </a:xfrm>
          <a:prstGeom prst="line">
            <a:avLst/>
          </a:prstGeom>
          <a:ln w="19050">
            <a:solidFill>
              <a:srgbClr val="91B2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914400" y="6080760"/>
            <a:ext cx="10149840" cy="27432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536576"/>
                </a:solidFill>
                <a:latin typeface="Aptos"/>
              </a:rPr>
              <a:t>Designed to support—not replace—professional and management judgment.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D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822960"/>
            <a:ext cx="41148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74DCD2"/>
                </a:solidFill>
                <a:latin typeface="Aptos"/>
              </a:rPr>
              <a:t>PROJECT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241280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Aptos"/>
              </a:rPr>
              <a:t>A clearer overview of healthcare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606040"/>
            <a:ext cx="9784080" cy="1371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300" b="0">
                <a:solidFill>
                  <a:srgbClr val="DEE9F3"/>
                </a:solidFill>
                <a:latin typeface="Aptos"/>
              </a:rPr>
              <a:t>The project brings operational information together in a visual dashboard to help users review activity, understand resource usage, and identify areas that may need attention.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572000"/>
            <a:ext cx="9784080" cy="914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800" b="1">
                <a:solidFill>
                  <a:srgbClr val="74DCD2"/>
                </a:solidFill>
                <a:latin typeface="Aptos"/>
              </a:rPr>
              <a:t>Problem addressed: limited consolidated visibility.
Approach: one dashboard for operational overview and insight.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977639"/>
            <a:ext cx="214884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07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3077B1"/>
                </a:solidFill>
                <a:latin typeface="Aptos"/>
              </a:rPr>
              <a:t>CENTRALIZE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11880" y="3977639"/>
            <a:ext cx="214884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4A6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24A69E"/>
                </a:solidFill>
                <a:latin typeface="Aptos"/>
              </a:rPr>
              <a:t>VISUALIZE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3977639"/>
            <a:ext cx="214884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07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3077B1"/>
                </a:solidFill>
                <a:latin typeface="Aptos"/>
              </a:rPr>
              <a:t>MONITOR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89720" y="3977639"/>
            <a:ext cx="214884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4A6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24A69E"/>
                </a:solidFill>
                <a:latin typeface="Aptos"/>
              </a:rPr>
              <a:t>REVIEW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4A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32588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24A69E"/>
                </a:solidFill>
                <a:latin typeface="Aptos"/>
              </a:rPr>
              <a:t>MEDICAL OPERATIONS INTELLIGENCE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011680"/>
            <a:ext cx="7315200" cy="10972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4200" b="1">
                <a:solidFill>
                  <a:srgbClr val="193758"/>
                </a:solidFill>
                <a:latin typeface="Aptos Display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46120"/>
            <a:ext cx="79552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>
                <a:solidFill>
                  <a:srgbClr val="536576"/>
                </a:solidFill>
                <a:latin typeface="Aptos"/>
              </a:rPr>
              <a:t>Questions or feedback?</a:t>
            </a:r>
          </a:p>
        </p:txBody>
      </p:sp>
      <p:sp>
        <p:nvSpPr>
          <p:cNvPr id="6" name="Oval 5"/>
          <p:cNvSpPr/>
          <p:nvPr/>
        </p:nvSpPr>
        <p:spPr>
          <a:xfrm>
            <a:off x="8412480" y="1965960"/>
            <a:ext cx="2057400" cy="2057400"/>
          </a:xfrm>
          <a:prstGeom prst="ellipse">
            <a:avLst/>
          </a:prstGeom>
          <a:solidFill>
            <a:srgbClr val="E8F2F8"/>
          </a:solidFill>
          <a:ln w="15875">
            <a:solidFill>
              <a:srgbClr val="CD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887968" y="2441448"/>
            <a:ext cx="1106424" cy="1106424"/>
          </a:xfrm>
          <a:prstGeom prst="ellipse">
            <a:avLst/>
          </a:prstGeom>
          <a:solidFill>
            <a:srgbClr val="193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720072" y="3383280"/>
            <a:ext cx="347472" cy="347472"/>
          </a:xfrm>
          <a:prstGeom prst="ellipse">
            <a:avLst/>
          </a:prstGeom>
          <a:solidFill>
            <a:srgbClr val="24A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5989320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536576"/>
                </a:solidFill>
                <a:latin typeface="Aptos"/>
              </a:rPr>
              <a:t>INFOSYS SPRINGBOARD 7.0  ·  BATCH 3  |  TEAM 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